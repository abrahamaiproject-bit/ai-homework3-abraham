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911dfab-e404-f515-296b-1502b115af3c}">
          <p14:sldIdLst>
            <p14:sldId id="256"/>
            <p14:sldId id="257"/>
            <p14:sldId id="258"/>
          </p14:sldIdLst>
        </p14:section>
        <p14:section name="Connections" id="{9ab07154-f27f-7e5a-e64d-e5cc0ae74e8b}">
          <p14:sldIdLst>
            <p14:sldId id="259"/>
          </p14:sldIdLst>
        </p14:section>
        <p14:section name="Original vs dashboard" id="{414dcfab-250a-1c4a-5824-e12b6999bd6f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Dashboard" id="{45be1ac5-bd19-3a07-c434-09377e2bc5f8}">
          <p14:sldIdLst>
            <p14:sldId id="266"/>
            <p14:sldId id="267"/>
          </p14:sldIdLst>
        </p14:section>
        <p14:section name="Summary" id="{df92a25a-fdfc-2007-9f22-5d57ce21091b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overview: Claude Code connected to four services through MCP servers, data exported locally, searched in a local dashboard. Worked alone; Linear is the extra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Gmail test item in the real service. Right: the same item read from the local JSON export in the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GitHub test item in the real service. Right: the same item read from the local JSON export in the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Notion test item in the real service. Right: the same item read from the local JSON export in the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Linear test item in the real service. Right: the same item read from the local JSON export in the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Todoist test item in the real service. Right: the same item read from the local JSON export in the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Jira test item in the real service. Right: the same item read from the local JSON export in the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Third-Party Services Dashboard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Claude Code + MCP: Gmail, GitHub, Notion, Linear, Todoist and Jira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Abraham Gabay · Joel Aserraf · Marco Foununu · AI Homework 3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github.com/abrahamaiproject-bit/Ai-Homework3-Abraham</a:t>
            </a:r>
            <a:endParaRPr lang="en-US" sz="2000" dirty="0"/>
          </a:p>
        </p:txBody>
      </p:sp>
      <p:sp>
        <p:nvSpPr>
          <p:cNvPr id="4" name="label Gmail"/>
          <p:cNvSpPr txBox="1"/>
          <p:nvPr/>
        </p:nvSpPr>
        <p:spPr>
          <a:xfrm>
            <a:off x="731520" y="1280160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D9302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Gmail</a:t>
            </a:r>
            <a:endParaRPr lang="en-US" sz="1200" dirty="0"/>
          </a:p>
        </p:txBody>
      </p:sp>
      <p:sp>
        <p:nvSpPr>
          <p:cNvPr id="5" name="label GitHub"/>
          <p:cNvSpPr txBox="1"/>
          <p:nvPr/>
        </p:nvSpPr>
        <p:spPr>
          <a:xfrm>
            <a:off x="2057400" y="1280160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24292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GitHub</a:t>
            </a:r>
            <a:endParaRPr lang="en-US" sz="1200" dirty="0"/>
          </a:p>
        </p:txBody>
      </p:sp>
      <p:sp>
        <p:nvSpPr>
          <p:cNvPr id="6" name="label Notion"/>
          <p:cNvSpPr txBox="1"/>
          <p:nvPr/>
        </p:nvSpPr>
        <p:spPr>
          <a:xfrm>
            <a:off x="3383280" y="1280160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7A6A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Notion</a:t>
            </a:r>
            <a:endParaRPr lang="en-US" sz="1200" dirty="0"/>
          </a:p>
        </p:txBody>
      </p:sp>
      <p:sp>
        <p:nvSpPr>
          <p:cNvPr id="7" name="label Linear"/>
          <p:cNvSpPr txBox="1"/>
          <p:nvPr/>
        </p:nvSpPr>
        <p:spPr>
          <a:xfrm>
            <a:off x="4709160" y="1280160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5E6AD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Linear</a:t>
            </a:r>
            <a:endParaRPr lang="en-US" sz="1200" dirty="0"/>
          </a:p>
        </p:txBody>
      </p:sp>
      <p:sp>
        <p:nvSpPr>
          <p:cNvPr id="8" name="label Todoist"/>
          <p:cNvSpPr txBox="1"/>
          <p:nvPr/>
        </p:nvSpPr>
        <p:spPr>
          <a:xfrm>
            <a:off x="6035040" y="1280160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C2410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Todoist</a:t>
            </a:r>
            <a:endParaRPr lang="en-US" sz="1200" dirty="0"/>
          </a:p>
        </p:txBody>
      </p:sp>
      <p:sp>
        <p:nvSpPr>
          <p:cNvPr id="9" name="label Jira"/>
          <p:cNvSpPr txBox="1"/>
          <p:nvPr/>
        </p:nvSpPr>
        <p:spPr>
          <a:xfrm>
            <a:off x="7360920" y="1280160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0C66E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Jira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How the project works</a:t>
            </a:r>
            <a:endParaRPr lang="en-US" sz="3600" dirty="0"/>
          </a:p>
        </p:txBody>
      </p:sp>
      <p:sp>
        <p:nvSpPr>
          <p:cNvPr id="3" name="step card 1"/>
          <p:cNvSpPr/>
          <p:nvPr/>
        </p:nvSpPr>
        <p:spPr>
          <a:xfrm>
            <a:off x="457200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 number 1"/>
          <p:cNvSpPr txBox="1"/>
          <p:nvPr/>
        </p:nvSpPr>
        <p:spPr>
          <a:xfrm>
            <a:off x="731520" y="2011680"/>
            <a:ext cx="685800" cy="685800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step title 1"/>
          <p:cNvSpPr txBox="1"/>
          <p:nvPr/>
        </p:nvSpPr>
        <p:spPr>
          <a:xfrm>
            <a:off x="731520" y="2926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Connect</a:t>
            </a:r>
            <a:endParaRPr lang="en-US" sz="2200" dirty="0"/>
          </a:p>
        </p:txBody>
      </p:sp>
      <p:sp>
        <p:nvSpPr>
          <p:cNvPr id="6" name="step text 1"/>
          <p:cNvSpPr txBox="1"/>
          <p:nvPr/>
        </p:nvSpPr>
        <p:spPr>
          <a:xfrm>
            <a:off x="731520" y="347472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Official MCP servers for GitHub, Notion, Linear, Todoist and Jira in .mcp.json; Gmail through Google's Gmail MCP server</a:t>
            </a:r>
            <a:endParaRPr lang="en-US" sz="1500" dirty="0"/>
          </a:p>
        </p:txBody>
      </p:sp>
      <p:sp>
        <p:nvSpPr>
          <p:cNvPr id="7" name="arrow 1"/>
          <p:cNvSpPr txBox="1"/>
          <p:nvPr/>
        </p:nvSpPr>
        <p:spPr>
          <a:xfrm>
            <a:off x="3063240" y="32918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›</a:t>
            </a:r>
            <a:endParaRPr lang="en-US" sz="3200" dirty="0"/>
          </a:p>
        </p:txBody>
      </p:sp>
      <p:sp>
        <p:nvSpPr>
          <p:cNvPr id="8" name="step card 2"/>
          <p:cNvSpPr/>
          <p:nvPr/>
        </p:nvSpPr>
        <p:spPr>
          <a:xfrm>
            <a:off x="3337560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tep number 2"/>
          <p:cNvSpPr txBox="1"/>
          <p:nvPr/>
        </p:nvSpPr>
        <p:spPr>
          <a:xfrm>
            <a:off x="3611880" y="2011680"/>
            <a:ext cx="685800" cy="685800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2</a:t>
            </a:r>
            <a:endParaRPr lang="en-US" sz="2400" dirty="0"/>
          </a:p>
        </p:txBody>
      </p:sp>
      <p:sp>
        <p:nvSpPr>
          <p:cNvPr id="10" name="step title 2"/>
          <p:cNvSpPr txBox="1"/>
          <p:nvPr/>
        </p:nvSpPr>
        <p:spPr>
          <a:xfrm>
            <a:off x="3611880" y="2926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Seed test data</a:t>
            </a:r>
            <a:endParaRPr lang="en-US" sz="2200" dirty="0"/>
          </a:p>
        </p:txBody>
      </p:sp>
      <p:sp>
        <p:nvSpPr>
          <p:cNvPr id="11" name="step text 2"/>
          <p:cNvSpPr txBox="1"/>
          <p:nvPr/>
        </p:nvSpPr>
        <p:spPr>
          <a:xfrm>
            <a:off x="3611880" y="347472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Throwaway accounts with 10+ items per service about a fictional startup, Lumen Freight</a:t>
            </a:r>
            <a:endParaRPr lang="en-US" sz="1500" dirty="0"/>
          </a:p>
        </p:txBody>
      </p:sp>
      <p:sp>
        <p:nvSpPr>
          <p:cNvPr id="12" name="arrow 2"/>
          <p:cNvSpPr txBox="1"/>
          <p:nvPr/>
        </p:nvSpPr>
        <p:spPr>
          <a:xfrm>
            <a:off x="5943600" y="32918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›</a:t>
            </a:r>
            <a:endParaRPr lang="en-US" sz="3200" dirty="0"/>
          </a:p>
        </p:txBody>
      </p:sp>
      <p:sp>
        <p:nvSpPr>
          <p:cNvPr id="13" name="step card 3"/>
          <p:cNvSpPr/>
          <p:nvPr/>
        </p:nvSpPr>
        <p:spPr>
          <a:xfrm>
            <a:off x="6217920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tep number 3"/>
          <p:cNvSpPr txBox="1"/>
          <p:nvPr/>
        </p:nvSpPr>
        <p:spPr>
          <a:xfrm>
            <a:off x="6492240" y="2011680"/>
            <a:ext cx="685800" cy="685800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3</a:t>
            </a:r>
            <a:endParaRPr lang="en-US" sz="2400" dirty="0"/>
          </a:p>
        </p:txBody>
      </p:sp>
      <p:sp>
        <p:nvSpPr>
          <p:cNvPr id="15" name="step title 3"/>
          <p:cNvSpPr txBox="1"/>
          <p:nvPr/>
        </p:nvSpPr>
        <p:spPr>
          <a:xfrm>
            <a:off x="6492240" y="2926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Export locally</a:t>
            </a:r>
            <a:endParaRPr lang="en-US" sz="2200" dirty="0"/>
          </a:p>
        </p:txBody>
      </p:sp>
      <p:sp>
        <p:nvSpPr>
          <p:cNvPr id="16" name="step text 3"/>
          <p:cNvSpPr txBox="1"/>
          <p:nvPr/>
        </p:nvSpPr>
        <p:spPr>
          <a:xfrm>
            <a:off x="6492240" y="347472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 project skill downloads every item to dataExports/ as one JSON file each, per localStorageFormats.md</a:t>
            </a:r>
            <a:endParaRPr lang="en-US" sz="1500" dirty="0"/>
          </a:p>
        </p:txBody>
      </p:sp>
      <p:sp>
        <p:nvSpPr>
          <p:cNvPr id="17" name="arrow 3"/>
          <p:cNvSpPr txBox="1"/>
          <p:nvPr/>
        </p:nvSpPr>
        <p:spPr>
          <a:xfrm>
            <a:off x="8823960" y="32918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›</a:t>
            </a:r>
            <a:endParaRPr lang="en-US" sz="3200" dirty="0"/>
          </a:p>
        </p:txBody>
      </p:sp>
      <p:sp>
        <p:nvSpPr>
          <p:cNvPr id="18" name="step card 4"/>
          <p:cNvSpPr/>
          <p:nvPr/>
        </p:nvSpPr>
        <p:spPr>
          <a:xfrm>
            <a:off x="9098280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tep number 4"/>
          <p:cNvSpPr txBox="1"/>
          <p:nvPr/>
        </p:nvSpPr>
        <p:spPr>
          <a:xfrm>
            <a:off x="9372600" y="2011680"/>
            <a:ext cx="685800" cy="685800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4</a:t>
            </a:r>
            <a:endParaRPr lang="en-US" sz="2400" dirty="0"/>
          </a:p>
        </p:txBody>
      </p:sp>
      <p:sp>
        <p:nvSpPr>
          <p:cNvPr id="20" name="step title 4"/>
          <p:cNvSpPr txBox="1"/>
          <p:nvPr/>
        </p:nvSpPr>
        <p:spPr>
          <a:xfrm>
            <a:off x="9372600" y="2926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Search</a:t>
            </a:r>
            <a:endParaRPr lang="en-US" sz="2200" dirty="0"/>
          </a:p>
        </p:txBody>
      </p:sp>
      <p:sp>
        <p:nvSpPr>
          <p:cNvPr id="21" name="step text 4"/>
          <p:cNvSpPr txBox="1"/>
          <p:nvPr/>
        </p:nvSpPr>
        <p:spPr>
          <a:xfrm>
            <a:off x="9372600" y="347472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 local Python dashboard reads dataExports/ and searches all six services at once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Team and extra services</a:t>
            </a:r>
            <a:endParaRPr lang="en-US" sz="3600" dirty="0"/>
          </a:p>
        </p:txBody>
      </p:sp>
      <p:sp>
        <p:nvSpPr>
          <p:cNvPr id="3" name="Abraham Gabay card"/>
          <p:cNvSpPr/>
          <p:nvPr/>
        </p:nvSpPr>
        <p:spPr>
          <a:xfrm>
            <a:off x="457200" y="1463040"/>
            <a:ext cx="3566160" cy="42062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braham Gabay initials"/>
          <p:cNvSpPr txBox="1"/>
          <p:nvPr/>
        </p:nvSpPr>
        <p:spPr>
          <a:xfrm>
            <a:off x="777240" y="173736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AG</a:t>
            </a:r>
            <a:endParaRPr lang="en-US" sz="2000" dirty="0"/>
          </a:p>
        </p:txBody>
      </p:sp>
      <p:sp>
        <p:nvSpPr>
          <p:cNvPr id="5" name="Abraham Gabay name"/>
          <p:cNvSpPr txBox="1"/>
          <p:nvPr/>
        </p:nvSpPr>
        <p:spPr>
          <a:xfrm>
            <a:off x="777240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Abraham Gabay</a:t>
            </a:r>
            <a:endParaRPr lang="en-US" sz="2200" dirty="0"/>
          </a:p>
        </p:txBody>
      </p:sp>
      <p:sp>
        <p:nvSpPr>
          <p:cNvPr id="6" name="label Extra service: Linear"/>
          <p:cNvSpPr txBox="1"/>
          <p:nvPr/>
        </p:nvSpPr>
        <p:spPr>
          <a:xfrm>
            <a:off x="777240" y="3200400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5E6AD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Extra service: Linear</a:t>
            </a:r>
            <a:endParaRPr lang="en-US" sz="1200" dirty="0"/>
          </a:p>
        </p:txBody>
      </p:sp>
      <p:sp>
        <p:nvSpPr>
          <p:cNvPr id="7" name="Abraham Gabay tasks"/>
          <p:cNvSpPr txBox="1"/>
          <p:nvPr/>
        </p:nvSpPr>
        <p:spPr>
          <a:xfrm>
            <a:off x="777240" y="374904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GitHub repo setup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Gmail, GitHub and Notion connections and test data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Demo video</a:t>
            </a:r>
            <a:endParaRPr lang="en-US" sz="1500" dirty="0"/>
          </a:p>
        </p:txBody>
      </p:sp>
      <p:sp>
        <p:nvSpPr>
          <p:cNvPr id="8" name="Joel Aserraf card"/>
          <p:cNvSpPr/>
          <p:nvPr/>
        </p:nvSpPr>
        <p:spPr>
          <a:xfrm>
            <a:off x="4251960" y="1463040"/>
            <a:ext cx="3566160" cy="42062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Joel Aserraf initials"/>
          <p:cNvSpPr txBox="1"/>
          <p:nvPr/>
        </p:nvSpPr>
        <p:spPr>
          <a:xfrm>
            <a:off x="4572000" y="173736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JA</a:t>
            </a:r>
            <a:endParaRPr lang="en-US" sz="2000" dirty="0"/>
          </a:p>
        </p:txBody>
      </p:sp>
      <p:sp>
        <p:nvSpPr>
          <p:cNvPr id="10" name="Joel Aserraf name"/>
          <p:cNvSpPr txBox="1"/>
          <p:nvPr/>
        </p:nvSpPr>
        <p:spPr>
          <a:xfrm>
            <a:off x="4572000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Joel Aserraf</a:t>
            </a:r>
            <a:endParaRPr lang="en-US" sz="2200" dirty="0"/>
          </a:p>
        </p:txBody>
      </p:sp>
      <p:sp>
        <p:nvSpPr>
          <p:cNvPr id="11" name="label Extra service: Todoist"/>
          <p:cNvSpPr txBox="1"/>
          <p:nvPr/>
        </p:nvSpPr>
        <p:spPr>
          <a:xfrm>
            <a:off x="4572000" y="3200400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C2410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Extra service: Todoist</a:t>
            </a:r>
            <a:endParaRPr lang="en-US" sz="1200" dirty="0"/>
          </a:p>
        </p:txBody>
      </p:sp>
      <p:sp>
        <p:nvSpPr>
          <p:cNvPr id="12" name="Joel Aserraf tasks"/>
          <p:cNvSpPr txBox="1"/>
          <p:nvPr/>
        </p:nvSpPr>
        <p:spPr>
          <a:xfrm>
            <a:off x="4572000" y="374904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localStorageFormats.md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Export skill (.claude/skills)</a:t>
            </a:r>
            <a:endParaRPr lang="en-US" sz="1500" dirty="0"/>
          </a:p>
        </p:txBody>
      </p:sp>
      <p:sp>
        <p:nvSpPr>
          <p:cNvPr id="13" name="Marco Foununu card"/>
          <p:cNvSpPr/>
          <p:nvPr/>
        </p:nvSpPr>
        <p:spPr>
          <a:xfrm>
            <a:off x="8046720" y="1463040"/>
            <a:ext cx="3566160" cy="42062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Marco Foununu initials"/>
          <p:cNvSpPr txBox="1"/>
          <p:nvPr/>
        </p:nvSpPr>
        <p:spPr>
          <a:xfrm>
            <a:off x="8366760" y="173736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MF</a:t>
            </a:r>
            <a:endParaRPr lang="en-US" sz="2000" dirty="0"/>
          </a:p>
        </p:txBody>
      </p:sp>
      <p:sp>
        <p:nvSpPr>
          <p:cNvPr id="15" name="Marco Foununu name"/>
          <p:cNvSpPr txBox="1"/>
          <p:nvPr/>
        </p:nvSpPr>
        <p:spPr>
          <a:xfrm>
            <a:off x="8366760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Marco Foununu</a:t>
            </a:r>
            <a:endParaRPr lang="en-US" sz="2200" dirty="0"/>
          </a:p>
        </p:txBody>
      </p:sp>
      <p:sp>
        <p:nvSpPr>
          <p:cNvPr id="16" name="label Extra service: Jira"/>
          <p:cNvSpPr txBox="1"/>
          <p:nvPr/>
        </p:nvSpPr>
        <p:spPr>
          <a:xfrm>
            <a:off x="8366760" y="3200400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0C66E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Extra service: Jira</a:t>
            </a:r>
            <a:endParaRPr lang="en-US" sz="1200" dirty="0"/>
          </a:p>
        </p:txBody>
      </p:sp>
      <p:sp>
        <p:nvSpPr>
          <p:cNvPr id="17" name="Marco Foununu tasks"/>
          <p:cNvSpPr txBox="1"/>
          <p:nvPr/>
        </p:nvSpPr>
        <p:spPr>
          <a:xfrm>
            <a:off x="8366760" y="374904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Dashboard website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Screenshots and presentation</a:t>
            </a:r>
            <a:endParaRPr lang="en-US" sz="1500" dirty="0"/>
          </a:p>
        </p:txBody>
      </p:sp>
      <p:sp>
        <p:nvSpPr>
          <p:cNvPr id="18" name="team note"/>
          <p:cNvSpPr txBox="1"/>
          <p:nvPr/>
        </p:nvSpPr>
        <p:spPr>
          <a:xfrm>
            <a:off x="457200" y="58521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We worked together on one shared computer and one set of test accounts, helping each other throughout.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Every service connected through MCP</a:t>
            </a:r>
            <a:endParaRPr lang="en-US" sz="3600" dirty="0"/>
          </a:p>
        </p:txBody>
      </p:sp>
      <p:pic>
        <p:nvPicPr>
          <p:cNvPr id="3" name="Claude Code /mcp screen showing atlassian, github, linear, notion, todoist and claude.ai Gmail connected" descr="Claude Code /mcp screen showing atlassian, github, linear, notion, todoist and claude.ai Gmail connect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6675120" cy="3042613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1B2433">
                <a:alpha val="18000"/>
              </a:srgbClr>
            </a:outerShdw>
          </a:effectLst>
        </p:spPr>
      </p:pic>
      <p:sp>
        <p:nvSpPr>
          <p:cNvPr id="4" name="connection notes"/>
          <p:cNvSpPr txBox="1"/>
          <p:nvPr/>
        </p:nvSpPr>
        <p:spPr>
          <a:xfrm>
            <a:off x="7589520" y="1463040"/>
            <a:ext cx="4114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GitHub, Notion, Linear, Todoist, Jira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Vendor-hosted official MCP servers, saved in .mcp.json. GitHub's token comes from an environment variable; the others sign in with OAuth in the browser.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Gmail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Google's official Gmail MCP server (gmailmcp.googleapis.com), reached through the claude.ai Gmail connector. Google's preview program blocks custom OAuth clients for personal Gmail accounts.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No passwords or keys are in the repo.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Gmail: original vs dashboard</a:t>
            </a:r>
            <a:endParaRPr lang="en-US" sz="3600" dirty="0"/>
          </a:p>
        </p:txBody>
      </p:sp>
      <p:sp>
        <p:nvSpPr>
          <p:cNvPr id="3" name="label Original in Gmail"/>
          <p:cNvSpPr txBox="1"/>
          <p:nvPr/>
        </p:nvSpPr>
        <p:spPr>
          <a:xfrm>
            <a:off x="457200" y="1280160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D9302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Original in Gmail</a:t>
            </a:r>
            <a:endParaRPr lang="en-US" sz="1200" dirty="0"/>
          </a:p>
        </p:txBody>
      </p:sp>
      <p:sp>
        <p:nvSpPr>
          <p:cNvPr id="4" name="label In the dashboard"/>
          <p:cNvSpPr txBox="1"/>
          <p:nvPr/>
        </p:nvSpPr>
        <p:spPr>
          <a:xfrm>
            <a:off x="7223760" y="1280160"/>
            <a:ext cx="2377440" cy="329184"/>
          </a:xfrm>
          <a:prstGeom prst="roundRect">
            <a:avLst>
              <a:gd name="adj" fmla="val 22222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 the dashboard</a:t>
            </a:r>
            <a:endParaRPr lang="en-US" sz="1200" dirty="0"/>
          </a:p>
        </p:txBody>
      </p:sp>
      <p:pic>
        <p:nvPicPr>
          <p:cNvPr id="5" name="Original Gmail content" descr="Original Gmail cont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83080"/>
            <a:ext cx="6400800" cy="3398121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1B2433">
                <a:alpha val="18000"/>
              </a:srgbClr>
            </a:outerShdw>
          </a:effectLst>
        </p:spPr>
      </p:pic>
      <p:pic>
        <p:nvPicPr>
          <p:cNvPr id="6" name="Gmail item opened in the dashboard" descr="Gmail item opened in the dashboa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783080"/>
            <a:ext cx="4363537" cy="452628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1B2433">
                <a:alpha val="18000"/>
              </a:srgbClr>
            </a:outerShdw>
          </a:effectLst>
        </p:spPr>
      </p:pic>
      <p:sp>
        <p:nvSpPr>
          <p:cNvPr id="7" name="Gmail caption"/>
          <p:cNvSpPr txBox="1"/>
          <p:nvPr/>
        </p:nvSpPr>
        <p:spPr>
          <a:xfrm>
            <a:off x="457200" y="5455521"/>
            <a:ext cx="6400800" cy="899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Item: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Email “Project Atlas kickoff recap”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Saved as: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dataExports/gmail/2026-10-15_23-44-19_ecf43b32.json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GitHub: original vs dashboard</a:t>
            </a:r>
            <a:endParaRPr lang="en-US" sz="3600" dirty="0"/>
          </a:p>
        </p:txBody>
      </p:sp>
      <p:sp>
        <p:nvSpPr>
          <p:cNvPr id="3" name="label Original in GitHub"/>
          <p:cNvSpPr txBox="1"/>
          <p:nvPr/>
        </p:nvSpPr>
        <p:spPr>
          <a:xfrm>
            <a:off x="457200" y="1280160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24292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Original in GitHub</a:t>
            </a:r>
            <a:endParaRPr lang="en-US" sz="1200" dirty="0"/>
          </a:p>
        </p:txBody>
      </p:sp>
      <p:sp>
        <p:nvSpPr>
          <p:cNvPr id="4" name="label In the dashboard"/>
          <p:cNvSpPr txBox="1"/>
          <p:nvPr/>
        </p:nvSpPr>
        <p:spPr>
          <a:xfrm>
            <a:off x="7223760" y="1280160"/>
            <a:ext cx="2377440" cy="329184"/>
          </a:xfrm>
          <a:prstGeom prst="roundRect">
            <a:avLst>
              <a:gd name="adj" fmla="val 22222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 the dashboard</a:t>
            </a:r>
            <a:endParaRPr lang="en-US" sz="1200" dirty="0"/>
          </a:p>
        </p:txBody>
      </p:sp>
      <p:pic>
        <p:nvPicPr>
          <p:cNvPr id="5" name="Original GitHub content" descr="Original GitHub cont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83080"/>
            <a:ext cx="6400800" cy="3613785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1B2433">
                <a:alpha val="18000"/>
              </a:srgbClr>
            </a:outerShdw>
          </a:effectLst>
        </p:spPr>
      </p:pic>
      <p:pic>
        <p:nvPicPr>
          <p:cNvPr id="6" name="GitHub item opened in the dashboard" descr="GitHub item opened in the dashboa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783080"/>
            <a:ext cx="4344217" cy="452628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1B2433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Notion: original vs dashboard</a:t>
            </a:r>
            <a:endParaRPr lang="en-US" sz="3600" dirty="0"/>
          </a:p>
        </p:txBody>
      </p:sp>
      <p:sp>
        <p:nvSpPr>
          <p:cNvPr id="3" name="label Original in Notion"/>
          <p:cNvSpPr txBox="1"/>
          <p:nvPr/>
        </p:nvSpPr>
        <p:spPr>
          <a:xfrm>
            <a:off x="457200" y="1280160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7A6A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Original in Notion</a:t>
            </a:r>
            <a:endParaRPr lang="en-US" sz="1200" dirty="0"/>
          </a:p>
        </p:txBody>
      </p:sp>
      <p:sp>
        <p:nvSpPr>
          <p:cNvPr id="4" name="label In the dashboard"/>
          <p:cNvSpPr txBox="1"/>
          <p:nvPr/>
        </p:nvSpPr>
        <p:spPr>
          <a:xfrm>
            <a:off x="7223760" y="1280160"/>
            <a:ext cx="2377440" cy="329184"/>
          </a:xfrm>
          <a:prstGeom prst="roundRect">
            <a:avLst>
              <a:gd name="adj" fmla="val 22222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 the dashboard</a:t>
            </a:r>
            <a:endParaRPr lang="en-US" sz="1200" dirty="0"/>
          </a:p>
        </p:txBody>
      </p:sp>
      <p:pic>
        <p:nvPicPr>
          <p:cNvPr id="5" name="Original Notion content" descr="Original Notion cont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83080"/>
            <a:ext cx="6400800" cy="360045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1B2433">
                <a:alpha val="18000"/>
              </a:srgbClr>
            </a:outerShdw>
          </a:effectLst>
        </p:spPr>
      </p:pic>
      <p:pic>
        <p:nvPicPr>
          <p:cNvPr id="6" name="Notion item opened in the dashboard" descr="Notion item opened in the dashboa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783080"/>
            <a:ext cx="4507992" cy="3838592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1B2433">
                <a:alpha val="18000"/>
              </a:srgbClr>
            </a:outerShdw>
          </a:effectLst>
        </p:spPr>
      </p:pic>
      <p:sp>
        <p:nvSpPr>
          <p:cNvPr id="7" name="Notion caption"/>
          <p:cNvSpPr txBox="1"/>
          <p:nvPr/>
        </p:nvSpPr>
        <p:spPr>
          <a:xfrm>
            <a:off x="457200" y="5657850"/>
            <a:ext cx="6400800" cy="697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Item: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Page “Project Atlas – Kickoff Brief”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Saved as: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dataExports/notion/2026-10-15_22-49-00_3fa6f7558e41.json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Linear: original vs dashboard</a:t>
            </a:r>
            <a:endParaRPr lang="en-US" sz="3600" dirty="0"/>
          </a:p>
        </p:txBody>
      </p:sp>
      <p:sp>
        <p:nvSpPr>
          <p:cNvPr id="3" name="label Original in Linear"/>
          <p:cNvSpPr txBox="1"/>
          <p:nvPr/>
        </p:nvSpPr>
        <p:spPr>
          <a:xfrm>
            <a:off x="457200" y="1280160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5E6AD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Original in Linear</a:t>
            </a:r>
            <a:endParaRPr lang="en-US" sz="1200" dirty="0"/>
          </a:p>
        </p:txBody>
      </p:sp>
      <p:sp>
        <p:nvSpPr>
          <p:cNvPr id="4" name="label In the dashboard"/>
          <p:cNvSpPr txBox="1"/>
          <p:nvPr/>
        </p:nvSpPr>
        <p:spPr>
          <a:xfrm>
            <a:off x="7223760" y="1280160"/>
            <a:ext cx="2377440" cy="329184"/>
          </a:xfrm>
          <a:prstGeom prst="roundRect">
            <a:avLst>
              <a:gd name="adj" fmla="val 22222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 the dashboard</a:t>
            </a:r>
            <a:endParaRPr lang="en-US" sz="1200" dirty="0"/>
          </a:p>
        </p:txBody>
      </p:sp>
      <p:pic>
        <p:nvPicPr>
          <p:cNvPr id="5" name="Original Linear content" descr="Original Linear cont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83080"/>
            <a:ext cx="6400800" cy="288036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1B2433">
                <a:alpha val="18000"/>
              </a:srgbClr>
            </a:outerShdw>
          </a:effectLst>
        </p:spPr>
      </p:pic>
      <p:pic>
        <p:nvPicPr>
          <p:cNvPr id="6" name="Linear item opened in the dashboard" descr="Linear item opened in the dashboa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783080"/>
            <a:ext cx="4507992" cy="3941896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1B2433">
                <a:alpha val="18000"/>
              </a:srgbClr>
            </a:outerShdw>
          </a:effectLst>
        </p:spPr>
      </p:pic>
      <p:sp>
        <p:nvSpPr>
          <p:cNvPr id="7" name="Linear caption"/>
          <p:cNvSpPr txBox="1"/>
          <p:nvPr/>
        </p:nvSpPr>
        <p:spPr>
          <a:xfrm>
            <a:off x="457200" y="49377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Item: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Issue ABR-5 “Reduce routing API p95 latency below 250ms”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Saved as: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dataExports/linear/2026-10-15_22-49-31_ABR-5.json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Todoist: original vs dashboard</a:t>
            </a:r>
            <a:endParaRPr lang="en-US" sz="3600" dirty="0"/>
          </a:p>
        </p:txBody>
      </p:sp>
      <p:sp>
        <p:nvSpPr>
          <p:cNvPr id="3" name="label Original in Todoist"/>
          <p:cNvSpPr txBox="1"/>
          <p:nvPr/>
        </p:nvSpPr>
        <p:spPr>
          <a:xfrm>
            <a:off x="457200" y="1280160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C2410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Original in Todoist</a:t>
            </a:r>
            <a:endParaRPr lang="en-US" sz="1200" dirty="0"/>
          </a:p>
        </p:txBody>
      </p:sp>
      <p:sp>
        <p:nvSpPr>
          <p:cNvPr id="4" name="label In the dashboard"/>
          <p:cNvSpPr txBox="1"/>
          <p:nvPr/>
        </p:nvSpPr>
        <p:spPr>
          <a:xfrm>
            <a:off x="7223760" y="1280160"/>
            <a:ext cx="2377440" cy="329184"/>
          </a:xfrm>
          <a:prstGeom prst="roundRect">
            <a:avLst>
              <a:gd name="adj" fmla="val 22222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 the dashboard</a:t>
            </a:r>
            <a:endParaRPr lang="en-US" sz="1200" dirty="0"/>
          </a:p>
        </p:txBody>
      </p:sp>
      <p:pic>
        <p:nvPicPr>
          <p:cNvPr id="5" name="Original Todoist content" descr="Original Todoist cont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83080"/>
            <a:ext cx="6400800" cy="3622675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1B2433">
                <a:alpha val="18000"/>
              </a:srgbClr>
            </a:outerShdw>
          </a:effectLst>
        </p:spPr>
      </p:pic>
      <p:pic>
        <p:nvPicPr>
          <p:cNvPr id="6" name="Todoist item opened in the dashboard" descr="Todoist item opened in the dashboa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783080"/>
            <a:ext cx="4507992" cy="4297829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1B2433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Jira: original vs dashboard</a:t>
            </a:r>
            <a:endParaRPr lang="en-US" sz="3600" dirty="0"/>
          </a:p>
        </p:txBody>
      </p:sp>
      <p:sp>
        <p:nvSpPr>
          <p:cNvPr id="3" name="label Original in Jira"/>
          <p:cNvSpPr txBox="1"/>
          <p:nvPr/>
        </p:nvSpPr>
        <p:spPr>
          <a:xfrm>
            <a:off x="457200" y="1280160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0C66E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Original in Jira</a:t>
            </a:r>
            <a:endParaRPr lang="en-US" sz="1200" dirty="0"/>
          </a:p>
        </p:txBody>
      </p:sp>
      <p:sp>
        <p:nvSpPr>
          <p:cNvPr id="4" name="label In the dashboard"/>
          <p:cNvSpPr txBox="1"/>
          <p:nvPr/>
        </p:nvSpPr>
        <p:spPr>
          <a:xfrm>
            <a:off x="7223760" y="1280160"/>
            <a:ext cx="2377440" cy="329184"/>
          </a:xfrm>
          <a:prstGeom prst="roundRect">
            <a:avLst>
              <a:gd name="adj" fmla="val 22222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 the dashboard</a:t>
            </a:r>
            <a:endParaRPr lang="en-US" sz="1200" dirty="0"/>
          </a:p>
        </p:txBody>
      </p:sp>
      <p:pic>
        <p:nvPicPr>
          <p:cNvPr id="5" name="Original Jira content" descr="Original Jira cont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83080"/>
            <a:ext cx="6400800" cy="360045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1B2433">
                <a:alpha val="18000"/>
              </a:srgbClr>
            </a:outerShdw>
          </a:effectLst>
        </p:spPr>
      </p:pic>
      <p:pic>
        <p:nvPicPr>
          <p:cNvPr id="6" name="Jira item opened in the dashboard" descr="Jira item opened in the dashboa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783080"/>
            <a:ext cx="4507992" cy="4122783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1B2433">
                <a:alpha val="18000"/>
              </a:srgbClr>
            </a:outerShdw>
          </a:effectLst>
        </p:spPr>
      </p:pic>
      <p:sp>
        <p:nvSpPr>
          <p:cNvPr id="7" name="Jira caption"/>
          <p:cNvSpPr txBox="1"/>
          <p:nvPr/>
        </p:nvSpPr>
        <p:spPr>
          <a:xfrm>
            <a:off x="457200" y="5657850"/>
            <a:ext cx="6400800" cy="697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Item: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Issue KAN-8 “ETA prediction model v1 for Project Atlas”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Saved as: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dataExports/jira/2026-10-20_21-21-17_KAN-8.json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One search across every service</a:t>
            </a:r>
            <a:endParaRPr lang="en-US" sz="3600" dirty="0"/>
          </a:p>
        </p:txBody>
      </p:sp>
      <p:pic>
        <p:nvPicPr>
          <p:cNvPr id="3" name="Dashboard search for joe smith returning results from all services" descr="Dashboard search for joe smith returning results from all servi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7863840" cy="4716118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1B2433">
                <a:alpha val="18000"/>
              </a:srgbClr>
            </a:outerShdw>
          </a:effectLst>
        </p:spPr>
      </p:pic>
      <p:sp>
        <p:nvSpPr>
          <p:cNvPr id="4" name="stat results for “joe smith”"/>
          <p:cNvSpPr txBox="1"/>
          <p:nvPr/>
        </p:nvSpPr>
        <p:spPr>
          <a:xfrm>
            <a:off x="8778240" y="14630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28</a:t>
            </a:r>
            <a:endParaRPr lang="en-US" sz="5400" dirty="0"/>
          </a:p>
        </p:txBody>
      </p:sp>
      <p:sp>
        <p:nvSpPr>
          <p:cNvPr id="5" name="stat label results for “joe smith”"/>
          <p:cNvSpPr txBox="1"/>
          <p:nvPr/>
        </p:nvSpPr>
        <p:spPr>
          <a:xfrm>
            <a:off x="8778240" y="2286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results for “joe smith”</a:t>
            </a:r>
            <a:endParaRPr lang="en-US" sz="1500" dirty="0"/>
          </a:p>
        </p:txBody>
      </p:sp>
      <p:sp>
        <p:nvSpPr>
          <p:cNvPr id="6" name="stat services in one dashboard"/>
          <p:cNvSpPr txBox="1"/>
          <p:nvPr/>
        </p:nvSpPr>
        <p:spPr>
          <a:xfrm>
            <a:off x="8778240" y="30632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6</a:t>
            </a:r>
            <a:endParaRPr lang="en-US" sz="5400" dirty="0"/>
          </a:p>
        </p:txBody>
      </p:sp>
      <p:sp>
        <p:nvSpPr>
          <p:cNvPr id="7" name="stat label services in one dashboard"/>
          <p:cNvSpPr txBox="1"/>
          <p:nvPr/>
        </p:nvSpPr>
        <p:spPr>
          <a:xfrm>
            <a:off x="8778240" y="3886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services in one dashboard</a:t>
            </a:r>
            <a:endParaRPr lang="en-US" sz="1500" dirty="0"/>
          </a:p>
        </p:txBody>
      </p:sp>
      <p:sp>
        <p:nvSpPr>
          <p:cNvPr id="8" name="stat items searchable offline"/>
          <p:cNvSpPr txBox="1"/>
          <p:nvPr/>
        </p:nvSpPr>
        <p:spPr>
          <a:xfrm>
            <a:off x="8778240" y="46634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102</a:t>
            </a:r>
            <a:endParaRPr lang="en-US" sz="5400" dirty="0"/>
          </a:p>
        </p:txBody>
      </p:sp>
      <p:sp>
        <p:nvSpPr>
          <p:cNvPr id="9" name="stat label items searchable offline"/>
          <p:cNvSpPr txBox="1"/>
          <p:nvPr/>
        </p:nvSpPr>
        <p:spPr>
          <a:xfrm>
            <a:off x="8778240" y="5486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items searchable offline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 documented format and a reusable skill</a:t>
            </a:r>
            <a:endParaRPr lang="en-US" sz="3600" dirty="0"/>
          </a:p>
        </p:txBody>
      </p:sp>
      <p:sp>
        <p:nvSpPr>
          <p:cNvPr id="3" name="localStorageFormats.md card"/>
          <p:cNvSpPr/>
          <p:nvPr/>
        </p:nvSpPr>
        <p:spPr>
          <a:xfrm>
            <a:off x="457200" y="1463040"/>
            <a:ext cx="5486400" cy="36576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localStorageFormats.md heading"/>
          <p:cNvSpPr txBox="1"/>
          <p:nvPr/>
        </p:nvSpPr>
        <p:spPr>
          <a:xfrm>
            <a:off x="777240" y="16916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localStorageFormats.md</a:t>
            </a:r>
            <a:endParaRPr lang="en-US" sz="2000" dirty="0"/>
          </a:p>
        </p:txBody>
      </p:sp>
      <p:sp>
        <p:nvSpPr>
          <p:cNvPr id="5" name="localStorageFormats.md list"/>
          <p:cNvSpPr txBox="1"/>
          <p:nvPr/>
        </p:nvSpPr>
        <p:spPr>
          <a:xfrm>
            <a:off x="777240" y="233172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One sub-folder per service in dataExports/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One JSON file per item: &lt;UTC time&gt;_&lt;short id&gt;.json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Shared fields: service, id, title, body, author, created, updated, url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Service-specific details in a metadata object (email from/to/labels, repo README, issue status/priority…)</a:t>
            </a:r>
            <a:endParaRPr lang="en-US" sz="1500" dirty="0"/>
          </a:p>
        </p:txBody>
      </p:sp>
      <p:sp>
        <p:nvSpPr>
          <p:cNvPr id="6" name=".claude/skills/export-service-data card"/>
          <p:cNvSpPr/>
          <p:nvPr/>
        </p:nvSpPr>
        <p:spPr>
          <a:xfrm>
            <a:off x="6172200" y="1463040"/>
            <a:ext cx="5486400" cy="36576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.claude/skills/export-service-data heading"/>
          <p:cNvSpPr txBox="1"/>
          <p:nvPr/>
        </p:nvSpPr>
        <p:spPr>
          <a:xfrm>
            <a:off x="6492240" y="16916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.claude/skills/export-service-data</a:t>
            </a:r>
            <a:endParaRPr lang="en-US" sz="2000" dirty="0"/>
          </a:p>
        </p:txBody>
      </p:sp>
      <p:sp>
        <p:nvSpPr>
          <p:cNvPr id="8" name=".claude/skills/export-service-data list"/>
          <p:cNvSpPr txBox="1"/>
          <p:nvPr/>
        </p:nvSpPr>
        <p:spPr>
          <a:xfrm>
            <a:off x="6492240" y="233172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Tells Claude how to download from each service and store it exactly per the format doc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Skips items already on disk by comparing ids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Tested in a fresh conversation: skipped the 25 existing items and saved only new ones</a:t>
            </a:r>
            <a:endParaRPr lang="en-US" sz="1500" dirty="0"/>
          </a:p>
        </p:txBody>
      </p:sp>
      <p:sp>
        <p:nvSpPr>
          <p:cNvPr id="9" name="label Gmail: 24"/>
          <p:cNvSpPr txBox="1"/>
          <p:nvPr/>
        </p:nvSpPr>
        <p:spPr>
          <a:xfrm>
            <a:off x="457200" y="5440680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D9302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Gmail: 24</a:t>
            </a:r>
            <a:endParaRPr lang="en-US" sz="1200" dirty="0"/>
          </a:p>
        </p:txBody>
      </p:sp>
      <p:sp>
        <p:nvSpPr>
          <p:cNvPr id="10" name="label GitHub: 11"/>
          <p:cNvSpPr txBox="1"/>
          <p:nvPr/>
        </p:nvSpPr>
        <p:spPr>
          <a:xfrm>
            <a:off x="2350008" y="5440680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24292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GitHub: 11</a:t>
            </a:r>
            <a:endParaRPr lang="en-US" sz="1200" dirty="0"/>
          </a:p>
        </p:txBody>
      </p:sp>
      <p:sp>
        <p:nvSpPr>
          <p:cNvPr id="11" name="label Notion: 20"/>
          <p:cNvSpPr txBox="1"/>
          <p:nvPr/>
        </p:nvSpPr>
        <p:spPr>
          <a:xfrm>
            <a:off x="4242816" y="5440680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7A6A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Notion: 20</a:t>
            </a:r>
            <a:endParaRPr lang="en-US" sz="1200" dirty="0"/>
          </a:p>
        </p:txBody>
      </p:sp>
      <p:sp>
        <p:nvSpPr>
          <p:cNvPr id="12" name="label Linear: 14"/>
          <p:cNvSpPr txBox="1"/>
          <p:nvPr/>
        </p:nvSpPr>
        <p:spPr>
          <a:xfrm>
            <a:off x="6135624" y="5440680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5E6AD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Linear: 14</a:t>
            </a:r>
            <a:endParaRPr lang="en-US" sz="1200" dirty="0"/>
          </a:p>
        </p:txBody>
      </p:sp>
      <p:sp>
        <p:nvSpPr>
          <p:cNvPr id="13" name="label Todoist: 10"/>
          <p:cNvSpPr txBox="1"/>
          <p:nvPr/>
        </p:nvSpPr>
        <p:spPr>
          <a:xfrm>
            <a:off x="8028432" y="5440680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C2410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Todoist: 10</a:t>
            </a:r>
            <a:endParaRPr lang="en-US" sz="1200" dirty="0"/>
          </a:p>
        </p:txBody>
      </p:sp>
      <p:sp>
        <p:nvSpPr>
          <p:cNvPr id="14" name="label Jira: 23"/>
          <p:cNvSpPr txBox="1"/>
          <p:nvPr/>
        </p:nvSpPr>
        <p:spPr>
          <a:xfrm>
            <a:off x="9921240" y="5440680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0C66E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Jira: 23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Everything is in one public repo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dataExports/ · .claude/skills/ · .mcp.json · dashboard/ with its README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localStorageFormats.md · root README.md · this presentation and the demo video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github.com/abrahamaiproject-bit/Ai-Homework3-Abraham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umen Dashboard">
  <a:themeElements>
    <a:clrScheme name="Lumen Dashboard">
      <a:dk1>
        <a:srgbClr val="1B2433"/>
      </a:dk1>
      <a:lt1>
        <a:srgbClr val="FFFFFF"/>
      </a:lt1>
      <a:dk2>
        <a:srgbClr val="3B4A5E"/>
      </a:dk2>
      <a:lt2>
        <a:srgbClr val="EEF1F5"/>
      </a:lt2>
      <a:accent1>
        <a:srgbClr val="F2B705"/>
      </a:accent1>
      <a:accent2>
        <a:srgbClr val="D93025"/>
      </a:accent2>
      <a:accent3>
        <a:srgbClr val="24292F"/>
      </a:accent3>
      <a:accent4>
        <a:srgbClr val="7A6A55"/>
      </a:accent4>
      <a:accent5>
        <a:srgbClr val="5E6AD2"/>
      </a:accent5>
      <a:accent6>
        <a:srgbClr val="2E8B57"/>
      </a:accent6>
      <a:hlink>
        <a:srgbClr val="2F5BD3"/>
      </a:hlink>
      <a:folHlink>
        <a:srgbClr val="6B4FBB"/>
      </a:folHlink>
    </a:clrScheme>
    <a:fontScheme name="Lumen Dashboar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Third-Party Services Dashboard</dc:title>
  <dc:subject>PptxGenJS Presentation</dc:subject>
  <dc:creator>Abraham Gabay, Joel Aserraf, Marco Foununu</dc:creator>
  <cp:lastModifiedBy>Abraham Gabay, Joel Aserraf, Marco Foununu</cp:lastModifiedBy>
  <cp:revision>1</cp:revision>
  <dcterms:created xsi:type="dcterms:W3CDTF">2026-10-20T21:58:41Z</dcterms:created>
  <dcterms:modified xsi:type="dcterms:W3CDTF">2026-10-20T21:58:41Z</dcterms:modified>
</cp:coreProperties>
</file>